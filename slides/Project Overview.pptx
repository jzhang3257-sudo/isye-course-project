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7"/>
  </p:notesMasterIdLst>
  <p:sldIdLst>
    <p:sldId id="257" r:id="rId2"/>
    <p:sldId id="270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1BEEA0-EC5A-4E0D-B1C7-D875D6108B9D}" v="1" dt="2026-06-23T17:11:50.8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667"/>
  </p:normalViewPr>
  <p:slideViewPr>
    <p:cSldViewPr snapToGrid="0">
      <p:cViewPr varScale="1">
        <p:scale>
          <a:sx n="78" d="100"/>
          <a:sy n="78" d="100"/>
        </p:scale>
        <p:origin x="418" y="4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G Smith" userId="07b08c1d-b2c8-4777-8bfb-ec9a812e12a3" providerId="ADAL" clId="{45BCDFA6-2BA0-4E5E-AC8B-C18EA781C63A}"/>
    <pc:docChg chg="undo custSel delSld modSld">
      <pc:chgData name="Amanda G Smith" userId="07b08c1d-b2c8-4777-8bfb-ec9a812e12a3" providerId="ADAL" clId="{45BCDFA6-2BA0-4E5E-AC8B-C18EA781C63A}" dt="2026-06-23T17:12:36.847" v="261" actId="20577"/>
      <pc:docMkLst>
        <pc:docMk/>
      </pc:docMkLst>
      <pc:sldChg chg="modSp mod">
        <pc:chgData name="Amanda G Smith" userId="07b08c1d-b2c8-4777-8bfb-ec9a812e12a3" providerId="ADAL" clId="{45BCDFA6-2BA0-4E5E-AC8B-C18EA781C63A}" dt="2026-06-23T17:12:36.847" v="261" actId="20577"/>
        <pc:sldMkLst>
          <pc:docMk/>
          <pc:sldMk cId="2861844697" sldId="270"/>
        </pc:sldMkLst>
        <pc:graphicFrameChg chg="mod modGraphic">
          <ac:chgData name="Amanda G Smith" userId="07b08c1d-b2c8-4777-8bfb-ec9a812e12a3" providerId="ADAL" clId="{45BCDFA6-2BA0-4E5E-AC8B-C18EA781C63A}" dt="2026-06-23T17:12:36.847" v="261" actId="20577"/>
          <ac:graphicFrameMkLst>
            <pc:docMk/>
            <pc:sldMk cId="2861844697" sldId="270"/>
            <ac:graphicFrameMk id="25" creationId="{FAE6A3B7-31E8-4CE0-98DA-885D94E61EEA}"/>
          </ac:graphicFrameMkLst>
        </pc:graphicFrameChg>
      </pc:sldChg>
      <pc:sldChg chg="del">
        <pc:chgData name="Amanda G Smith" userId="07b08c1d-b2c8-4777-8bfb-ec9a812e12a3" providerId="ADAL" clId="{45BCDFA6-2BA0-4E5E-AC8B-C18EA781C63A}" dt="2026-06-23T17:11:45.422" v="225" actId="47"/>
        <pc:sldMkLst>
          <pc:docMk/>
          <pc:sldMk cId="1387910793" sldId="32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02E174-ABFD-4278-A85E-5C31C0FD1BB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D5E964-3C30-431D-A95A-19ACEEB10CD8}">
      <dgm:prSet custT="1"/>
      <dgm:spPr/>
      <dgm:t>
        <a:bodyPr/>
        <a:lstStyle/>
        <a:p>
          <a:r>
            <a:rPr lang="en-US" sz="2800"/>
            <a:t>Due dates </a:t>
          </a:r>
        </a:p>
      </dgm:t>
    </dgm:pt>
    <dgm:pt modelId="{239C1872-7E00-4F98-9E3D-C78953B852B7}" type="parTrans" cxnId="{0DA3D52C-330B-4595-B213-EA666D54F171}">
      <dgm:prSet/>
      <dgm:spPr/>
      <dgm:t>
        <a:bodyPr/>
        <a:lstStyle/>
        <a:p>
          <a:endParaRPr lang="en-US"/>
        </a:p>
      </dgm:t>
    </dgm:pt>
    <dgm:pt modelId="{04535772-858E-4652-83EF-CE62243B75DD}" type="sibTrans" cxnId="{0DA3D52C-330B-4595-B213-EA666D54F171}">
      <dgm:prSet/>
      <dgm:spPr/>
      <dgm:t>
        <a:bodyPr/>
        <a:lstStyle/>
        <a:p>
          <a:endParaRPr lang="en-US"/>
        </a:p>
      </dgm:t>
    </dgm:pt>
    <dgm:pt modelId="{867D5C7C-D583-48D2-8809-38316FF61AE0}">
      <dgm:prSet custT="1"/>
      <dgm:spPr/>
      <dgm:t>
        <a:bodyPr/>
        <a:lstStyle/>
        <a:p>
          <a:r>
            <a:rPr lang="en-US" sz="2000" dirty="0"/>
            <a:t>Proposal: Due July 10 by 11:59pm </a:t>
          </a:r>
        </a:p>
      </dgm:t>
    </dgm:pt>
    <dgm:pt modelId="{3B0EE35F-5007-4D36-9B13-54FB67C829A4}" type="parTrans" cxnId="{6090BA43-25E3-4EDE-ADCD-61E5C580B9AF}">
      <dgm:prSet/>
      <dgm:spPr/>
      <dgm:t>
        <a:bodyPr/>
        <a:lstStyle/>
        <a:p>
          <a:endParaRPr lang="en-US"/>
        </a:p>
      </dgm:t>
    </dgm:pt>
    <dgm:pt modelId="{FAA51158-5BDA-4683-B7DE-D62142C48E4F}" type="sibTrans" cxnId="{6090BA43-25E3-4EDE-ADCD-61E5C580B9AF}">
      <dgm:prSet/>
      <dgm:spPr/>
      <dgm:t>
        <a:bodyPr/>
        <a:lstStyle/>
        <a:p>
          <a:endParaRPr lang="en-US"/>
        </a:p>
      </dgm:t>
    </dgm:pt>
    <dgm:pt modelId="{E037EAAC-626E-4410-AA29-D250D145BC1F}">
      <dgm:prSet custT="1"/>
      <dgm:spPr/>
      <dgm:t>
        <a:bodyPr/>
        <a:lstStyle/>
        <a:p>
          <a:r>
            <a:rPr lang="en-US" sz="2000" dirty="0"/>
            <a:t>Final report: Due August 7 (last day of class) by 11:59pm </a:t>
          </a:r>
        </a:p>
      </dgm:t>
    </dgm:pt>
    <dgm:pt modelId="{59789438-C88D-467D-833B-4813C2AE7670}" type="parTrans" cxnId="{69AA97D6-844C-48C4-9610-DD388E28B280}">
      <dgm:prSet/>
      <dgm:spPr/>
      <dgm:t>
        <a:bodyPr/>
        <a:lstStyle/>
        <a:p>
          <a:endParaRPr lang="en-US"/>
        </a:p>
      </dgm:t>
    </dgm:pt>
    <dgm:pt modelId="{C7982BE0-DE55-476B-868B-626DAD82317F}" type="sibTrans" cxnId="{69AA97D6-844C-48C4-9610-DD388E28B280}">
      <dgm:prSet/>
      <dgm:spPr/>
      <dgm:t>
        <a:bodyPr/>
        <a:lstStyle/>
        <a:p>
          <a:endParaRPr lang="en-US"/>
        </a:p>
      </dgm:t>
    </dgm:pt>
    <dgm:pt modelId="{A16F55F1-47F3-4E06-AA4E-0940F9D632E6}">
      <dgm:prSet custT="1"/>
      <dgm:spPr/>
      <dgm:t>
        <a:bodyPr/>
        <a:lstStyle/>
        <a:p>
          <a:r>
            <a:rPr lang="en-US" sz="3200"/>
            <a:t>Proposal overview </a:t>
          </a:r>
        </a:p>
      </dgm:t>
    </dgm:pt>
    <dgm:pt modelId="{1F2882D6-E623-41B7-A159-55F11E1E4682}" type="parTrans" cxnId="{D319E055-7141-4D1C-8274-18BEB59A9794}">
      <dgm:prSet/>
      <dgm:spPr/>
      <dgm:t>
        <a:bodyPr/>
        <a:lstStyle/>
        <a:p>
          <a:endParaRPr lang="en-US"/>
        </a:p>
      </dgm:t>
    </dgm:pt>
    <dgm:pt modelId="{79AB0818-B4E1-4D60-8DB2-0CA5B1FD2533}" type="sibTrans" cxnId="{D319E055-7141-4D1C-8274-18BEB59A9794}">
      <dgm:prSet/>
      <dgm:spPr/>
      <dgm:t>
        <a:bodyPr/>
        <a:lstStyle/>
        <a:p>
          <a:endParaRPr lang="en-US"/>
        </a:p>
      </dgm:t>
    </dgm:pt>
    <dgm:pt modelId="{5D50B0DA-3BB9-4A8B-9F86-855AF47EAA0B}">
      <dgm:prSet custT="1"/>
      <dgm:spPr/>
      <dgm:t>
        <a:bodyPr/>
        <a:lstStyle/>
        <a:p>
          <a:r>
            <a:rPr lang="en-US" sz="2000" dirty="0"/>
            <a:t>Choose a partner or group (2-3 people) and list their names </a:t>
          </a:r>
        </a:p>
      </dgm:t>
    </dgm:pt>
    <dgm:pt modelId="{F2EC8019-18B6-49D9-873C-A06FB8DDC2FB}" type="parTrans" cxnId="{B238DFD4-C8BC-412E-A9F3-AC6D2206BAD0}">
      <dgm:prSet/>
      <dgm:spPr/>
      <dgm:t>
        <a:bodyPr/>
        <a:lstStyle/>
        <a:p>
          <a:endParaRPr lang="en-US"/>
        </a:p>
      </dgm:t>
    </dgm:pt>
    <dgm:pt modelId="{9B8B81C3-8B87-4431-88C6-A74678539987}" type="sibTrans" cxnId="{B238DFD4-C8BC-412E-A9F3-AC6D2206BAD0}">
      <dgm:prSet/>
      <dgm:spPr/>
      <dgm:t>
        <a:bodyPr/>
        <a:lstStyle/>
        <a:p>
          <a:endParaRPr lang="en-US"/>
        </a:p>
      </dgm:t>
    </dgm:pt>
    <dgm:pt modelId="{95084B7C-A0F5-4A6F-96EB-8F9EA3A5D61C}">
      <dgm:prSet custT="1"/>
      <dgm:spPr/>
      <dgm:t>
        <a:bodyPr/>
        <a:lstStyle/>
        <a:p>
          <a:r>
            <a:rPr lang="en-US" sz="2000" dirty="0"/>
            <a:t>Choose a topic and write a short(!) description </a:t>
          </a:r>
        </a:p>
      </dgm:t>
    </dgm:pt>
    <dgm:pt modelId="{3929866A-D04C-4F19-87AE-83F5A04EFA3D}" type="parTrans" cxnId="{9DF318ED-8FE0-43C8-98A4-BB77CE97E948}">
      <dgm:prSet/>
      <dgm:spPr/>
      <dgm:t>
        <a:bodyPr/>
        <a:lstStyle/>
        <a:p>
          <a:endParaRPr lang="en-US"/>
        </a:p>
      </dgm:t>
    </dgm:pt>
    <dgm:pt modelId="{467DF2DB-EB61-4675-862A-FE508EFF39E0}" type="sibTrans" cxnId="{9DF318ED-8FE0-43C8-98A4-BB77CE97E948}">
      <dgm:prSet/>
      <dgm:spPr/>
      <dgm:t>
        <a:bodyPr/>
        <a:lstStyle/>
        <a:p>
          <a:endParaRPr lang="en-US"/>
        </a:p>
      </dgm:t>
    </dgm:pt>
    <dgm:pt modelId="{C41E3C0F-C4AB-4592-9EC5-3C1C62351AD6}">
      <dgm:prSet custT="1"/>
      <dgm:spPr/>
      <dgm:t>
        <a:bodyPr/>
        <a:lstStyle/>
        <a:p>
          <a:r>
            <a:rPr lang="en-US" sz="2000" dirty="0"/>
            <a:t>You can change it at any time</a:t>
          </a:r>
        </a:p>
      </dgm:t>
    </dgm:pt>
    <dgm:pt modelId="{DCA2AE50-E672-4F8D-A0C6-3610E5D7824C}" type="parTrans" cxnId="{70A3BB50-EA14-478A-AC2A-95CEF1D6D0B1}">
      <dgm:prSet/>
      <dgm:spPr/>
      <dgm:t>
        <a:bodyPr/>
        <a:lstStyle/>
        <a:p>
          <a:endParaRPr lang="en-US"/>
        </a:p>
      </dgm:t>
    </dgm:pt>
    <dgm:pt modelId="{8DEA1BBF-995C-42E2-8FF5-74CAE4353DEA}" type="sibTrans" cxnId="{70A3BB50-EA14-478A-AC2A-95CEF1D6D0B1}">
      <dgm:prSet/>
      <dgm:spPr/>
      <dgm:t>
        <a:bodyPr/>
        <a:lstStyle/>
        <a:p>
          <a:endParaRPr lang="en-US"/>
        </a:p>
      </dgm:t>
    </dgm:pt>
    <dgm:pt modelId="{5B718ABD-BD83-475A-A7CB-F552E8102D8C}">
      <dgm:prSet custT="1"/>
      <dgm:spPr/>
      <dgm:t>
        <a:bodyPr/>
        <a:lstStyle/>
        <a:p>
          <a:r>
            <a:rPr lang="en-US" sz="2800" dirty="0"/>
            <a:t>Final &amp; progress report overview </a:t>
          </a:r>
        </a:p>
      </dgm:t>
    </dgm:pt>
    <dgm:pt modelId="{57CAD0F2-AE54-4F63-A68B-29D4763835F9}" type="parTrans" cxnId="{C52B02A8-47E1-46A1-AB3E-F38CF3F510DB}">
      <dgm:prSet/>
      <dgm:spPr/>
      <dgm:t>
        <a:bodyPr/>
        <a:lstStyle/>
        <a:p>
          <a:endParaRPr lang="en-US"/>
        </a:p>
      </dgm:t>
    </dgm:pt>
    <dgm:pt modelId="{33D4AF7E-C942-4E72-A41A-C01BCCDA78FA}" type="sibTrans" cxnId="{C52B02A8-47E1-46A1-AB3E-F38CF3F510DB}">
      <dgm:prSet/>
      <dgm:spPr/>
      <dgm:t>
        <a:bodyPr/>
        <a:lstStyle/>
        <a:p>
          <a:endParaRPr lang="en-US"/>
        </a:p>
      </dgm:t>
    </dgm:pt>
    <dgm:pt modelId="{6FC0F48F-1BB9-42BB-B3BE-79D0F4B35593}">
      <dgm:prSet custT="1"/>
      <dgm:spPr/>
      <dgm:t>
        <a:bodyPr/>
        <a:lstStyle/>
        <a:p>
          <a:r>
            <a:rPr lang="en-US" sz="2000" dirty="0"/>
            <a:t>Each group will turn in a single PDF of an </a:t>
          </a:r>
          <a:r>
            <a:rPr lang="en-US" sz="2000" dirty="0" err="1"/>
            <a:t>IJulia</a:t>
          </a:r>
          <a:r>
            <a:rPr lang="en-US" sz="2000" dirty="0"/>
            <a:t> notebook</a:t>
          </a:r>
        </a:p>
      </dgm:t>
    </dgm:pt>
    <dgm:pt modelId="{C6A39FB9-6D7F-475F-A1F3-6CD01CD283E6}" type="parTrans" cxnId="{041DD3A1-EC0F-4871-AF3D-0FFF33F2C6AB}">
      <dgm:prSet/>
      <dgm:spPr/>
      <dgm:t>
        <a:bodyPr/>
        <a:lstStyle/>
        <a:p>
          <a:endParaRPr lang="en-US"/>
        </a:p>
      </dgm:t>
    </dgm:pt>
    <dgm:pt modelId="{EB9EF57B-BBE4-4837-8887-93108082C479}" type="sibTrans" cxnId="{041DD3A1-EC0F-4871-AF3D-0FFF33F2C6AB}">
      <dgm:prSet/>
      <dgm:spPr/>
      <dgm:t>
        <a:bodyPr/>
        <a:lstStyle/>
        <a:p>
          <a:endParaRPr lang="en-US"/>
        </a:p>
      </dgm:t>
    </dgm:pt>
    <dgm:pt modelId="{62EA5BB3-97D2-4114-ADF8-2B1AEDBEA708}">
      <dgm:prSet custT="1"/>
      <dgm:spPr/>
      <dgm:t>
        <a:bodyPr/>
        <a:lstStyle/>
        <a:p>
          <a:r>
            <a:rPr lang="en-US" sz="2000" dirty="0"/>
            <a:t>Top 2-3 projects will be featured on the course webpage in future semesters </a:t>
          </a:r>
        </a:p>
      </dgm:t>
    </dgm:pt>
    <dgm:pt modelId="{DBC2EA3B-6095-406F-94DC-7006525B7D6D}" type="parTrans" cxnId="{1F8F971D-33EE-480F-8A3D-F5BED55A7FC2}">
      <dgm:prSet/>
      <dgm:spPr/>
      <dgm:t>
        <a:bodyPr/>
        <a:lstStyle/>
        <a:p>
          <a:endParaRPr lang="en-US"/>
        </a:p>
      </dgm:t>
    </dgm:pt>
    <dgm:pt modelId="{F94FB53F-65F8-41F6-8971-55AF3318838D}" type="sibTrans" cxnId="{1F8F971D-33EE-480F-8A3D-F5BED55A7FC2}">
      <dgm:prSet/>
      <dgm:spPr/>
      <dgm:t>
        <a:bodyPr/>
        <a:lstStyle/>
        <a:p>
          <a:endParaRPr lang="en-US"/>
        </a:p>
      </dgm:t>
    </dgm:pt>
    <dgm:pt modelId="{8F7DFA81-C45B-4C02-9E40-22CC301F6A34}">
      <dgm:prSet custT="1"/>
      <dgm:spPr/>
      <dgm:t>
        <a:bodyPr/>
        <a:lstStyle/>
        <a:p>
          <a:r>
            <a:rPr lang="en-US" sz="2000" dirty="0"/>
            <a:t>Progress report: Due July 27 by 11:59pm</a:t>
          </a:r>
        </a:p>
      </dgm:t>
    </dgm:pt>
    <dgm:pt modelId="{1E1FE16F-7F7C-4DF1-AF44-AC9156F210FC}" type="parTrans" cxnId="{EE5BFA31-5C7F-4417-A066-4C61483AC471}">
      <dgm:prSet/>
      <dgm:spPr/>
      <dgm:t>
        <a:bodyPr/>
        <a:lstStyle/>
        <a:p>
          <a:endParaRPr lang="en-US"/>
        </a:p>
      </dgm:t>
    </dgm:pt>
    <dgm:pt modelId="{5FB4F068-064F-48E6-9E66-1E6A51E9D195}" type="sibTrans" cxnId="{EE5BFA31-5C7F-4417-A066-4C61483AC471}">
      <dgm:prSet/>
      <dgm:spPr/>
      <dgm:t>
        <a:bodyPr/>
        <a:lstStyle/>
        <a:p>
          <a:endParaRPr lang="en-US"/>
        </a:p>
      </dgm:t>
    </dgm:pt>
    <dgm:pt modelId="{F8EC7F90-8BD8-45E4-B152-BAEC6325A0AB}">
      <dgm:prSet custT="1"/>
      <dgm:spPr/>
      <dgm:t>
        <a:bodyPr/>
        <a:lstStyle/>
        <a:p>
          <a:r>
            <a:rPr lang="en-US" sz="2000" dirty="0"/>
            <a:t>Project worth 35% of course grade</a:t>
          </a:r>
        </a:p>
      </dgm:t>
    </dgm:pt>
    <dgm:pt modelId="{E6CDC3B7-1BA2-42F2-9EC6-E292AF036C4C}" type="parTrans" cxnId="{FAFFBEE3-B928-4D90-BD6D-BFF7E0B7104E}">
      <dgm:prSet/>
      <dgm:spPr/>
      <dgm:t>
        <a:bodyPr/>
        <a:lstStyle/>
        <a:p>
          <a:endParaRPr lang="en-US"/>
        </a:p>
      </dgm:t>
    </dgm:pt>
    <dgm:pt modelId="{F7A68998-8D98-4636-80BA-47AFDA4C5510}" type="sibTrans" cxnId="{FAFFBEE3-B928-4D90-BD6D-BFF7E0B7104E}">
      <dgm:prSet/>
      <dgm:spPr/>
      <dgm:t>
        <a:bodyPr/>
        <a:lstStyle/>
        <a:p>
          <a:endParaRPr lang="en-US"/>
        </a:p>
      </dgm:t>
    </dgm:pt>
    <dgm:pt modelId="{55E9C8B9-CCAC-4818-9ACC-7E16829D59B7}">
      <dgm:prSet custT="1"/>
      <dgm:spPr/>
      <dgm:t>
        <a:bodyPr/>
        <a:lstStyle/>
        <a:p>
          <a:r>
            <a:rPr lang="en-US" sz="2000" dirty="0"/>
            <a:t>Progress report will be graded on completion</a:t>
          </a:r>
        </a:p>
      </dgm:t>
    </dgm:pt>
    <dgm:pt modelId="{D9BAB7C0-0D95-4895-8D1D-AC485693E819}" type="parTrans" cxnId="{87CA250A-F23A-4FB4-9C13-6730332422FB}">
      <dgm:prSet/>
      <dgm:spPr/>
      <dgm:t>
        <a:bodyPr/>
        <a:lstStyle/>
        <a:p>
          <a:endParaRPr lang="en-US"/>
        </a:p>
      </dgm:t>
    </dgm:pt>
    <dgm:pt modelId="{380FB42D-9F9D-4219-B294-E6BB1CF26CAA}" type="sibTrans" cxnId="{87CA250A-F23A-4FB4-9C13-6730332422FB}">
      <dgm:prSet/>
      <dgm:spPr/>
      <dgm:t>
        <a:bodyPr/>
        <a:lstStyle/>
        <a:p>
          <a:endParaRPr lang="en-US"/>
        </a:p>
      </dgm:t>
    </dgm:pt>
    <dgm:pt modelId="{2F7836CF-8008-42E1-BAF3-2EAA2889F79E}" type="pres">
      <dgm:prSet presAssocID="{E902E174-ABFD-4278-A85E-5C31C0FD1BBC}" presName="Name0" presStyleCnt="0">
        <dgm:presLayoutVars>
          <dgm:dir/>
          <dgm:animLvl val="lvl"/>
          <dgm:resizeHandles val="exact"/>
        </dgm:presLayoutVars>
      </dgm:prSet>
      <dgm:spPr/>
    </dgm:pt>
    <dgm:pt modelId="{B0AE3BFF-1669-443E-9B6C-DBE8903CA1A7}" type="pres">
      <dgm:prSet presAssocID="{4AD5E964-3C30-431D-A95A-19ACEEB10CD8}" presName="linNode" presStyleCnt="0"/>
      <dgm:spPr/>
    </dgm:pt>
    <dgm:pt modelId="{F9B37375-867E-40AA-B7FC-E43E15883CF8}" type="pres">
      <dgm:prSet presAssocID="{4AD5E964-3C30-431D-A95A-19ACEEB10CD8}" presName="parentText" presStyleLbl="node1" presStyleIdx="0" presStyleCnt="3" custScaleY="79753">
        <dgm:presLayoutVars>
          <dgm:chMax val="1"/>
          <dgm:bulletEnabled val="1"/>
        </dgm:presLayoutVars>
      </dgm:prSet>
      <dgm:spPr/>
    </dgm:pt>
    <dgm:pt modelId="{6675D968-E2DA-4796-B391-5E26179E5B9B}" type="pres">
      <dgm:prSet presAssocID="{4AD5E964-3C30-431D-A95A-19ACEEB10CD8}" presName="descendantText" presStyleLbl="alignAccFollowNode1" presStyleIdx="0" presStyleCnt="3" custScaleY="104695">
        <dgm:presLayoutVars>
          <dgm:bulletEnabled val="1"/>
        </dgm:presLayoutVars>
      </dgm:prSet>
      <dgm:spPr/>
    </dgm:pt>
    <dgm:pt modelId="{6C1DB2F8-013E-4422-9F2D-6D83E689C292}" type="pres">
      <dgm:prSet presAssocID="{04535772-858E-4652-83EF-CE62243B75DD}" presName="sp" presStyleCnt="0"/>
      <dgm:spPr/>
    </dgm:pt>
    <dgm:pt modelId="{A05BAB7F-1069-4CD7-9597-9683E37DE3E8}" type="pres">
      <dgm:prSet presAssocID="{A16F55F1-47F3-4E06-AA4E-0940F9D632E6}" presName="linNode" presStyleCnt="0"/>
      <dgm:spPr/>
    </dgm:pt>
    <dgm:pt modelId="{E5D98A0D-885F-420A-B814-8D20A2551B38}" type="pres">
      <dgm:prSet presAssocID="{A16F55F1-47F3-4E06-AA4E-0940F9D632E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F0902E2-05D0-411C-A020-C44DBE2A6BB5}" type="pres">
      <dgm:prSet presAssocID="{A16F55F1-47F3-4E06-AA4E-0940F9D632E6}" presName="descendantText" presStyleLbl="alignAccFollowNode1" presStyleIdx="1" presStyleCnt="3" custScaleY="124376">
        <dgm:presLayoutVars>
          <dgm:bulletEnabled val="1"/>
        </dgm:presLayoutVars>
      </dgm:prSet>
      <dgm:spPr/>
    </dgm:pt>
    <dgm:pt modelId="{CB08B0DF-B5BE-4A9F-B002-EE1E44FC0C5E}" type="pres">
      <dgm:prSet presAssocID="{79AB0818-B4E1-4D60-8DB2-0CA5B1FD2533}" presName="sp" presStyleCnt="0"/>
      <dgm:spPr/>
    </dgm:pt>
    <dgm:pt modelId="{9BBFD9EB-A240-4BE5-827A-DFB35B5B28B7}" type="pres">
      <dgm:prSet presAssocID="{5B718ABD-BD83-475A-A7CB-F552E8102D8C}" presName="linNode" presStyleCnt="0"/>
      <dgm:spPr/>
    </dgm:pt>
    <dgm:pt modelId="{E0A14859-D60C-4688-AF10-68821F723AF8}" type="pres">
      <dgm:prSet presAssocID="{5B718ABD-BD83-475A-A7CB-F552E8102D8C}" presName="parentText" presStyleLbl="node1" presStyleIdx="2" presStyleCnt="3" custScaleY="81473">
        <dgm:presLayoutVars>
          <dgm:chMax val="1"/>
          <dgm:bulletEnabled val="1"/>
        </dgm:presLayoutVars>
      </dgm:prSet>
      <dgm:spPr/>
    </dgm:pt>
    <dgm:pt modelId="{290D0296-0665-4574-A6C6-C53C6D2AC50D}" type="pres">
      <dgm:prSet presAssocID="{5B718ABD-BD83-475A-A7CB-F552E8102D8C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7CA250A-F23A-4FB4-9C13-6730332422FB}" srcId="{5B718ABD-BD83-475A-A7CB-F552E8102D8C}" destId="{55E9C8B9-CCAC-4818-9ACC-7E16829D59B7}" srcOrd="1" destOrd="0" parTransId="{D9BAB7C0-0D95-4895-8D1D-AC485693E819}" sibTransId="{380FB42D-9F9D-4219-B294-E6BB1CF26CAA}"/>
    <dgm:cxn modelId="{ABF9DB0A-DED0-462E-8B8F-6E6268EA9E97}" type="presOf" srcId="{A16F55F1-47F3-4E06-AA4E-0940F9D632E6}" destId="{E5D98A0D-885F-420A-B814-8D20A2551B38}" srcOrd="0" destOrd="0" presId="urn:microsoft.com/office/officeart/2005/8/layout/vList5"/>
    <dgm:cxn modelId="{1F8F971D-33EE-480F-8A3D-F5BED55A7FC2}" srcId="{5B718ABD-BD83-475A-A7CB-F552E8102D8C}" destId="{62EA5BB3-97D2-4114-ADF8-2B1AEDBEA708}" srcOrd="2" destOrd="0" parTransId="{DBC2EA3B-6095-406F-94DC-7006525B7D6D}" sibTransId="{F94FB53F-65F8-41F6-8971-55AF3318838D}"/>
    <dgm:cxn modelId="{0DA3D52C-330B-4595-B213-EA666D54F171}" srcId="{E902E174-ABFD-4278-A85E-5C31C0FD1BBC}" destId="{4AD5E964-3C30-431D-A95A-19ACEEB10CD8}" srcOrd="0" destOrd="0" parTransId="{239C1872-7E00-4F98-9E3D-C78953B852B7}" sibTransId="{04535772-858E-4652-83EF-CE62243B75DD}"/>
    <dgm:cxn modelId="{EE5BFA31-5C7F-4417-A066-4C61483AC471}" srcId="{4AD5E964-3C30-431D-A95A-19ACEEB10CD8}" destId="{8F7DFA81-C45B-4C02-9E40-22CC301F6A34}" srcOrd="1" destOrd="0" parTransId="{1E1FE16F-7F7C-4DF1-AF44-AC9156F210FC}" sibTransId="{5FB4F068-064F-48E6-9E66-1E6A51E9D195}"/>
    <dgm:cxn modelId="{5E03915D-8782-46A1-BBE8-BB46DB95DDDE}" type="presOf" srcId="{C41E3C0F-C4AB-4592-9EC5-3C1C62351AD6}" destId="{FF0902E2-05D0-411C-A020-C44DBE2A6BB5}" srcOrd="0" destOrd="2" presId="urn:microsoft.com/office/officeart/2005/8/layout/vList5"/>
    <dgm:cxn modelId="{8AC20063-8E61-42C7-BFF7-8C97A4FD5CE6}" type="presOf" srcId="{95084B7C-A0F5-4A6F-96EB-8F9EA3A5D61C}" destId="{FF0902E2-05D0-411C-A020-C44DBE2A6BB5}" srcOrd="0" destOrd="1" presId="urn:microsoft.com/office/officeart/2005/8/layout/vList5"/>
    <dgm:cxn modelId="{6090BA43-25E3-4EDE-ADCD-61E5C580B9AF}" srcId="{4AD5E964-3C30-431D-A95A-19ACEEB10CD8}" destId="{867D5C7C-D583-48D2-8809-38316FF61AE0}" srcOrd="0" destOrd="0" parTransId="{3B0EE35F-5007-4D36-9B13-54FB67C829A4}" sibTransId="{FAA51158-5BDA-4683-B7DE-D62142C48E4F}"/>
    <dgm:cxn modelId="{C5C87F6F-DBA4-480F-97B8-6796C732DA22}" type="presOf" srcId="{F8EC7F90-8BD8-45E4-B152-BAEC6325A0AB}" destId="{6675D968-E2DA-4796-B391-5E26179E5B9B}" srcOrd="0" destOrd="3" presId="urn:microsoft.com/office/officeart/2005/8/layout/vList5"/>
    <dgm:cxn modelId="{70A3BB50-EA14-478A-AC2A-95CEF1D6D0B1}" srcId="{A16F55F1-47F3-4E06-AA4E-0940F9D632E6}" destId="{C41E3C0F-C4AB-4592-9EC5-3C1C62351AD6}" srcOrd="2" destOrd="0" parTransId="{DCA2AE50-E672-4F8D-A0C6-3610E5D7824C}" sibTransId="{8DEA1BBF-995C-42E2-8FF5-74CAE4353DEA}"/>
    <dgm:cxn modelId="{D319E055-7141-4D1C-8274-18BEB59A9794}" srcId="{E902E174-ABFD-4278-A85E-5C31C0FD1BBC}" destId="{A16F55F1-47F3-4E06-AA4E-0940F9D632E6}" srcOrd="1" destOrd="0" parTransId="{1F2882D6-E623-41B7-A159-55F11E1E4682}" sibTransId="{79AB0818-B4E1-4D60-8DB2-0CA5B1FD2533}"/>
    <dgm:cxn modelId="{567C1B77-7C4E-4B65-BDA8-428CA0D81239}" type="presOf" srcId="{6FC0F48F-1BB9-42BB-B3BE-79D0F4B35593}" destId="{290D0296-0665-4574-A6C6-C53C6D2AC50D}" srcOrd="0" destOrd="0" presId="urn:microsoft.com/office/officeart/2005/8/layout/vList5"/>
    <dgm:cxn modelId="{89464657-2350-4446-9CA7-C464D98D022E}" type="presOf" srcId="{867D5C7C-D583-48D2-8809-38316FF61AE0}" destId="{6675D968-E2DA-4796-B391-5E26179E5B9B}" srcOrd="0" destOrd="0" presId="urn:microsoft.com/office/officeart/2005/8/layout/vList5"/>
    <dgm:cxn modelId="{D2C53C59-1B1B-41DE-87E6-FC793A81E036}" type="presOf" srcId="{55E9C8B9-CCAC-4818-9ACC-7E16829D59B7}" destId="{290D0296-0665-4574-A6C6-C53C6D2AC50D}" srcOrd="0" destOrd="1" presId="urn:microsoft.com/office/officeart/2005/8/layout/vList5"/>
    <dgm:cxn modelId="{92151B95-1CB2-42E0-9383-19E8144AC737}" type="presOf" srcId="{E037EAAC-626E-4410-AA29-D250D145BC1F}" destId="{6675D968-E2DA-4796-B391-5E26179E5B9B}" srcOrd="0" destOrd="2" presId="urn:microsoft.com/office/officeart/2005/8/layout/vList5"/>
    <dgm:cxn modelId="{C3A8139A-20B7-4674-98D6-DE2AFA9F47C5}" type="presOf" srcId="{62EA5BB3-97D2-4114-ADF8-2B1AEDBEA708}" destId="{290D0296-0665-4574-A6C6-C53C6D2AC50D}" srcOrd="0" destOrd="2" presId="urn:microsoft.com/office/officeart/2005/8/layout/vList5"/>
    <dgm:cxn modelId="{041DD3A1-EC0F-4871-AF3D-0FFF33F2C6AB}" srcId="{5B718ABD-BD83-475A-A7CB-F552E8102D8C}" destId="{6FC0F48F-1BB9-42BB-B3BE-79D0F4B35593}" srcOrd="0" destOrd="0" parTransId="{C6A39FB9-6D7F-475F-A1F3-6CD01CD283E6}" sibTransId="{EB9EF57B-BBE4-4837-8887-93108082C479}"/>
    <dgm:cxn modelId="{6C4510A2-DDA3-4ED5-8F0A-20DF0045FCD7}" type="presOf" srcId="{5D50B0DA-3BB9-4A8B-9F86-855AF47EAA0B}" destId="{FF0902E2-05D0-411C-A020-C44DBE2A6BB5}" srcOrd="0" destOrd="0" presId="urn:microsoft.com/office/officeart/2005/8/layout/vList5"/>
    <dgm:cxn modelId="{C52B02A8-47E1-46A1-AB3E-F38CF3F510DB}" srcId="{E902E174-ABFD-4278-A85E-5C31C0FD1BBC}" destId="{5B718ABD-BD83-475A-A7CB-F552E8102D8C}" srcOrd="2" destOrd="0" parTransId="{57CAD0F2-AE54-4F63-A68B-29D4763835F9}" sibTransId="{33D4AF7E-C942-4E72-A41A-C01BCCDA78FA}"/>
    <dgm:cxn modelId="{E01ECDBE-BCBC-4E51-AEEF-C51FA1E115A2}" type="presOf" srcId="{4AD5E964-3C30-431D-A95A-19ACEEB10CD8}" destId="{F9B37375-867E-40AA-B7FC-E43E15883CF8}" srcOrd="0" destOrd="0" presId="urn:microsoft.com/office/officeart/2005/8/layout/vList5"/>
    <dgm:cxn modelId="{08CBBBC4-8396-4262-80D7-77DF7E258277}" type="presOf" srcId="{8F7DFA81-C45B-4C02-9E40-22CC301F6A34}" destId="{6675D968-E2DA-4796-B391-5E26179E5B9B}" srcOrd="0" destOrd="1" presId="urn:microsoft.com/office/officeart/2005/8/layout/vList5"/>
    <dgm:cxn modelId="{B238DFD4-C8BC-412E-A9F3-AC6D2206BAD0}" srcId="{A16F55F1-47F3-4E06-AA4E-0940F9D632E6}" destId="{5D50B0DA-3BB9-4A8B-9F86-855AF47EAA0B}" srcOrd="0" destOrd="0" parTransId="{F2EC8019-18B6-49D9-873C-A06FB8DDC2FB}" sibTransId="{9B8B81C3-8B87-4431-88C6-A74678539987}"/>
    <dgm:cxn modelId="{69AA97D6-844C-48C4-9610-DD388E28B280}" srcId="{4AD5E964-3C30-431D-A95A-19ACEEB10CD8}" destId="{E037EAAC-626E-4410-AA29-D250D145BC1F}" srcOrd="2" destOrd="0" parTransId="{59789438-C88D-467D-833B-4813C2AE7670}" sibTransId="{C7982BE0-DE55-476B-868B-626DAD82317F}"/>
    <dgm:cxn modelId="{6DAFCAD6-EF46-4E33-8770-AD4529A77E9C}" type="presOf" srcId="{E902E174-ABFD-4278-A85E-5C31C0FD1BBC}" destId="{2F7836CF-8008-42E1-BAF3-2EAA2889F79E}" srcOrd="0" destOrd="0" presId="urn:microsoft.com/office/officeart/2005/8/layout/vList5"/>
    <dgm:cxn modelId="{FAFFBEE3-B928-4D90-BD6D-BFF7E0B7104E}" srcId="{4AD5E964-3C30-431D-A95A-19ACEEB10CD8}" destId="{F8EC7F90-8BD8-45E4-B152-BAEC6325A0AB}" srcOrd="3" destOrd="0" parTransId="{E6CDC3B7-1BA2-42F2-9EC6-E292AF036C4C}" sibTransId="{F7A68998-8D98-4636-80BA-47AFDA4C5510}"/>
    <dgm:cxn modelId="{F82E29E4-8430-406A-A0EC-4CA962B54991}" type="presOf" srcId="{5B718ABD-BD83-475A-A7CB-F552E8102D8C}" destId="{E0A14859-D60C-4688-AF10-68821F723AF8}" srcOrd="0" destOrd="0" presId="urn:microsoft.com/office/officeart/2005/8/layout/vList5"/>
    <dgm:cxn modelId="{9DF318ED-8FE0-43C8-98A4-BB77CE97E948}" srcId="{A16F55F1-47F3-4E06-AA4E-0940F9D632E6}" destId="{95084B7C-A0F5-4A6F-96EB-8F9EA3A5D61C}" srcOrd="1" destOrd="0" parTransId="{3929866A-D04C-4F19-87AE-83F5A04EFA3D}" sibTransId="{467DF2DB-EB61-4675-862A-FE508EFF39E0}"/>
    <dgm:cxn modelId="{22EDD7B3-28DE-438C-81B9-41091E06D8B4}" type="presParOf" srcId="{2F7836CF-8008-42E1-BAF3-2EAA2889F79E}" destId="{B0AE3BFF-1669-443E-9B6C-DBE8903CA1A7}" srcOrd="0" destOrd="0" presId="urn:microsoft.com/office/officeart/2005/8/layout/vList5"/>
    <dgm:cxn modelId="{E8510ED6-02BF-4D4B-BE54-2621AC1964EB}" type="presParOf" srcId="{B0AE3BFF-1669-443E-9B6C-DBE8903CA1A7}" destId="{F9B37375-867E-40AA-B7FC-E43E15883CF8}" srcOrd="0" destOrd="0" presId="urn:microsoft.com/office/officeart/2005/8/layout/vList5"/>
    <dgm:cxn modelId="{97AA7F49-2630-42A5-AB43-3B114C86448C}" type="presParOf" srcId="{B0AE3BFF-1669-443E-9B6C-DBE8903CA1A7}" destId="{6675D968-E2DA-4796-B391-5E26179E5B9B}" srcOrd="1" destOrd="0" presId="urn:microsoft.com/office/officeart/2005/8/layout/vList5"/>
    <dgm:cxn modelId="{4C971420-85EA-46CB-91DD-FE5AF0869E35}" type="presParOf" srcId="{2F7836CF-8008-42E1-BAF3-2EAA2889F79E}" destId="{6C1DB2F8-013E-4422-9F2D-6D83E689C292}" srcOrd="1" destOrd="0" presId="urn:microsoft.com/office/officeart/2005/8/layout/vList5"/>
    <dgm:cxn modelId="{53F5136E-2798-4F40-A89B-056C065BC6CC}" type="presParOf" srcId="{2F7836CF-8008-42E1-BAF3-2EAA2889F79E}" destId="{A05BAB7F-1069-4CD7-9597-9683E37DE3E8}" srcOrd="2" destOrd="0" presId="urn:microsoft.com/office/officeart/2005/8/layout/vList5"/>
    <dgm:cxn modelId="{9CDC1305-13D3-43C9-B61C-EF578F380AAA}" type="presParOf" srcId="{A05BAB7F-1069-4CD7-9597-9683E37DE3E8}" destId="{E5D98A0D-885F-420A-B814-8D20A2551B38}" srcOrd="0" destOrd="0" presId="urn:microsoft.com/office/officeart/2005/8/layout/vList5"/>
    <dgm:cxn modelId="{5D472BA6-24C0-475D-A1A7-F0FF34FBDE11}" type="presParOf" srcId="{A05BAB7F-1069-4CD7-9597-9683E37DE3E8}" destId="{FF0902E2-05D0-411C-A020-C44DBE2A6BB5}" srcOrd="1" destOrd="0" presId="urn:microsoft.com/office/officeart/2005/8/layout/vList5"/>
    <dgm:cxn modelId="{C0BF382C-7D74-40A3-9AC7-8E378134D249}" type="presParOf" srcId="{2F7836CF-8008-42E1-BAF3-2EAA2889F79E}" destId="{CB08B0DF-B5BE-4A9F-B002-EE1E44FC0C5E}" srcOrd="3" destOrd="0" presId="urn:microsoft.com/office/officeart/2005/8/layout/vList5"/>
    <dgm:cxn modelId="{298EE143-B05A-4F80-BA60-886248DF749C}" type="presParOf" srcId="{2F7836CF-8008-42E1-BAF3-2EAA2889F79E}" destId="{9BBFD9EB-A240-4BE5-827A-DFB35B5B28B7}" srcOrd="4" destOrd="0" presId="urn:microsoft.com/office/officeart/2005/8/layout/vList5"/>
    <dgm:cxn modelId="{C8AD16A2-4A50-4764-9975-B0704B875D25}" type="presParOf" srcId="{9BBFD9EB-A240-4BE5-827A-DFB35B5B28B7}" destId="{E0A14859-D60C-4688-AF10-68821F723AF8}" srcOrd="0" destOrd="0" presId="urn:microsoft.com/office/officeart/2005/8/layout/vList5"/>
    <dgm:cxn modelId="{F8B8F615-0EC8-416A-95BE-E4E6197CC7CE}" type="presParOf" srcId="{9BBFD9EB-A240-4BE5-827A-DFB35B5B28B7}" destId="{290D0296-0665-4574-A6C6-C53C6D2AC50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5D968-E2DA-4796-B391-5E26179E5B9B}">
      <dsp:nvSpPr>
        <dsp:cNvPr id="0" name=""/>
        <dsp:cNvSpPr/>
      </dsp:nvSpPr>
      <dsp:spPr>
        <a:xfrm rot="5400000">
          <a:off x="4351874" y="-1548262"/>
          <a:ext cx="1885978" cy="49834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Proposal: Due July 10 by 11:59pm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Progress report: Due July 27 by 11:59pm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Final report: Due August 7 (last day of class) by 11:59pm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Project worth 35% of course grade</a:t>
          </a:r>
        </a:p>
      </dsp:txBody>
      <dsp:txXfrm rot="-5400000">
        <a:off x="2803163" y="92515"/>
        <a:ext cx="4891334" cy="1701846"/>
      </dsp:txXfrm>
    </dsp:sp>
    <dsp:sp modelId="{F9B37375-867E-40AA-B7FC-E43E15883CF8}">
      <dsp:nvSpPr>
        <dsp:cNvPr id="0" name=""/>
        <dsp:cNvSpPr/>
      </dsp:nvSpPr>
      <dsp:spPr>
        <a:xfrm>
          <a:off x="0" y="45517"/>
          <a:ext cx="2803163" cy="1795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Due dates </a:t>
          </a:r>
        </a:p>
      </dsp:txBody>
      <dsp:txXfrm>
        <a:off x="87666" y="133183"/>
        <a:ext cx="2627831" cy="1620508"/>
      </dsp:txXfrm>
    </dsp:sp>
    <dsp:sp modelId="{FF0902E2-05D0-411C-A020-C44DBE2A6BB5}">
      <dsp:nvSpPr>
        <dsp:cNvPr id="0" name=""/>
        <dsp:cNvSpPr/>
      </dsp:nvSpPr>
      <dsp:spPr>
        <a:xfrm rot="5400000">
          <a:off x="4174607" y="633190"/>
          <a:ext cx="2240512" cy="49834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Choose a partner or group (2-3 people) and list their names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Choose a topic and write a short(!) description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You can change it at any time</a:t>
          </a:r>
        </a:p>
      </dsp:txBody>
      <dsp:txXfrm rot="-5400000">
        <a:off x="2803164" y="2114007"/>
        <a:ext cx="4874027" cy="2021766"/>
      </dsp:txXfrm>
    </dsp:sp>
    <dsp:sp modelId="{E5D98A0D-885F-420A-B814-8D20A2551B38}">
      <dsp:nvSpPr>
        <dsp:cNvPr id="0" name=""/>
        <dsp:cNvSpPr/>
      </dsp:nvSpPr>
      <dsp:spPr>
        <a:xfrm>
          <a:off x="0" y="1999014"/>
          <a:ext cx="2803163" cy="22517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Proposal overview </a:t>
          </a:r>
        </a:p>
      </dsp:txBody>
      <dsp:txXfrm>
        <a:off x="109922" y="2108936"/>
        <a:ext cx="2583319" cy="2031909"/>
      </dsp:txXfrm>
    </dsp:sp>
    <dsp:sp modelId="{290D0296-0665-4574-A6C6-C53C6D2AC50D}">
      <dsp:nvSpPr>
        <dsp:cNvPr id="0" name=""/>
        <dsp:cNvSpPr/>
      </dsp:nvSpPr>
      <dsp:spPr>
        <a:xfrm rot="5400000">
          <a:off x="4394162" y="2788940"/>
          <a:ext cx="1801402" cy="49834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Each group will turn in a single PDF of an </a:t>
          </a:r>
          <a:r>
            <a:rPr lang="en-US" sz="2000" kern="1200" dirty="0" err="1"/>
            <a:t>IJulia</a:t>
          </a:r>
          <a:r>
            <a:rPr lang="en-US" sz="2000" kern="1200" dirty="0"/>
            <a:t> notebook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Progress report will be graded on completion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Top 2-3 projects will be featured on the course webpage in future semesters </a:t>
          </a:r>
        </a:p>
      </dsp:txBody>
      <dsp:txXfrm rot="-5400000">
        <a:off x="2803164" y="4467876"/>
        <a:ext cx="4895463" cy="1625528"/>
      </dsp:txXfrm>
    </dsp:sp>
    <dsp:sp modelId="{E0A14859-D60C-4688-AF10-68821F723AF8}">
      <dsp:nvSpPr>
        <dsp:cNvPr id="0" name=""/>
        <dsp:cNvSpPr/>
      </dsp:nvSpPr>
      <dsp:spPr>
        <a:xfrm>
          <a:off x="0" y="4363355"/>
          <a:ext cx="2803163" cy="18345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Final &amp; progress report overview </a:t>
          </a:r>
        </a:p>
      </dsp:txBody>
      <dsp:txXfrm>
        <a:off x="89556" y="4452911"/>
        <a:ext cx="2624051" cy="16554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624CE-5867-4BF8-9424-455BA7C1D412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6F1C9-737E-4B1C-B471-041A5C711B0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1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6F1C9-737E-4B1C-B471-041A5C711B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41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F1C9-737E-4B1C-B471-041A5C711B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25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F1C9-737E-4B1C-B471-041A5C711B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22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F1C9-737E-4B1C-B471-041A5C711B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55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6F1C9-737E-4B1C-B471-041A5C711B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4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9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1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2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4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78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8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7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48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2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51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60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33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36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62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9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1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BFC46A-52B3-469E-8FF0-E5B5FD943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468"/>
            <a:ext cx="9144000" cy="3618898"/>
          </a:xfrm>
        </p:spPr>
        <p:txBody>
          <a:bodyPr anchor="b">
            <a:normAutofit/>
          </a:bodyPr>
          <a:lstStyle/>
          <a:p>
            <a:pPr algn="ctr"/>
            <a:r>
              <a:rPr lang="en-US" sz="7200" dirty="0"/>
              <a:t>Project Overview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F0A44C3D-DA74-4004-954E-70181A7EB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9546" y="4552335"/>
            <a:ext cx="6752908" cy="109138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CS/ECE/ISyE 524</a:t>
            </a:r>
          </a:p>
        </p:txBody>
      </p:sp>
    </p:spTree>
    <p:extLst>
      <p:ext uri="{BB962C8B-B14F-4D97-AF65-F5344CB8AC3E}">
        <p14:creationId xmlns:p14="http://schemas.microsoft.com/office/powerpoint/2010/main" val="399837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9">
            <a:extLst>
              <a:ext uri="{FF2B5EF4-FFF2-40B4-BE49-F238E27FC236}">
                <a16:creationId xmlns:a16="http://schemas.microsoft.com/office/drawing/2014/main" id="{9AA8EBAB-1820-415F-9D8D-2CDECA2DD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6306" y="1"/>
            <a:ext cx="44556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E04D8-34BC-4E7B-A721-9E73A1CE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1392" y="1074392"/>
            <a:ext cx="2443433" cy="437796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Important Info</a:t>
            </a:r>
          </a:p>
        </p:txBody>
      </p:sp>
      <p:sp useBgFill="1">
        <p:nvSpPr>
          <p:cNvPr id="23" name="Freeform: Shape 11">
            <a:extLst>
              <a:ext uri="{FF2B5EF4-FFF2-40B4-BE49-F238E27FC236}">
                <a16:creationId xmlns:a16="http://schemas.microsoft.com/office/drawing/2014/main" id="{6DB832FE-CF50-494F-BC92-5AF925246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9032100" cy="6858000"/>
          </a:xfrm>
          <a:custGeom>
            <a:avLst/>
            <a:gdLst>
              <a:gd name="connsiteX0" fmla="*/ 7891921 w 9032100"/>
              <a:gd name="connsiteY0" fmla="*/ 1602751 h 6858000"/>
              <a:gd name="connsiteX1" fmla="*/ 9032100 w 9032100"/>
              <a:gd name="connsiteY1" fmla="*/ 0 h 6858000"/>
              <a:gd name="connsiteX2" fmla="*/ 7880182 w 9032100"/>
              <a:gd name="connsiteY2" fmla="*/ 0 h 6858000"/>
              <a:gd name="connsiteX3" fmla="*/ 7880182 w 9032100"/>
              <a:gd name="connsiteY3" fmla="*/ 1528762 h 6858000"/>
              <a:gd name="connsiteX4" fmla="*/ 7880182 w 9032100"/>
              <a:gd name="connsiteY4" fmla="*/ 6858000 h 6858000"/>
              <a:gd name="connsiteX5" fmla="*/ 8725712 w 9032100"/>
              <a:gd name="connsiteY5" fmla="*/ 6858000 h 6858000"/>
              <a:gd name="connsiteX6" fmla="*/ 7891921 w 9032100"/>
              <a:gd name="connsiteY6" fmla="*/ 1602751 h 6858000"/>
              <a:gd name="connsiteX7" fmla="*/ 7880182 w 9032100"/>
              <a:gd name="connsiteY7" fmla="*/ 1619252 h 6858000"/>
              <a:gd name="connsiteX8" fmla="*/ 0 w 9032100"/>
              <a:gd name="connsiteY8" fmla="*/ 6858000 h 6858000"/>
              <a:gd name="connsiteX9" fmla="*/ 7880181 w 9032100"/>
              <a:gd name="connsiteY9" fmla="*/ 6858000 h 6858000"/>
              <a:gd name="connsiteX10" fmla="*/ 7880181 w 9032100"/>
              <a:gd name="connsiteY10" fmla="*/ 0 h 6858000"/>
              <a:gd name="connsiteX11" fmla="*/ 0 w 9032100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32100" h="6858000">
                <a:moveTo>
                  <a:pt x="7891921" y="1602751"/>
                </a:moveTo>
                <a:lnTo>
                  <a:pt x="9032100" y="0"/>
                </a:lnTo>
                <a:lnTo>
                  <a:pt x="7880182" y="0"/>
                </a:lnTo>
                <a:lnTo>
                  <a:pt x="7880182" y="1528762"/>
                </a:lnTo>
                <a:close/>
                <a:moveTo>
                  <a:pt x="7880182" y="6858000"/>
                </a:moveTo>
                <a:lnTo>
                  <a:pt x="8725712" y="6858000"/>
                </a:lnTo>
                <a:lnTo>
                  <a:pt x="7891921" y="1602751"/>
                </a:lnTo>
                <a:lnTo>
                  <a:pt x="7880182" y="1619252"/>
                </a:lnTo>
                <a:close/>
                <a:moveTo>
                  <a:pt x="0" y="6858000"/>
                </a:moveTo>
                <a:lnTo>
                  <a:pt x="7880181" y="6858000"/>
                </a:lnTo>
                <a:lnTo>
                  <a:pt x="7880181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4" name="Group 13">
            <a:extLst>
              <a:ext uri="{FF2B5EF4-FFF2-40B4-BE49-F238E27FC236}">
                <a16:creationId xmlns:a16="http://schemas.microsoft.com/office/drawing/2014/main" id="{E89BB28F-9765-4059-8E5F-E3A9965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2667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CDC2B730-2D9C-4A18-AFDB-0E81AB11B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BE53A8C-4D41-4E78-B2F0-1277993C2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EA9E0B8A-E893-4657-A6EE-65DD6D5C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9310052A-A033-4FAB-957F-499C17B7C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B043786-1DFA-4506-B362-73960ED6E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714DAA-0F00-4E7A-A096-03879E69B8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FAE6A3B7-31E8-4CE0-98DA-885D94E61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059536"/>
              </p:ext>
            </p:extLst>
          </p:nvPr>
        </p:nvGraphicFramePr>
        <p:xfrm>
          <a:off x="206117" y="397869"/>
          <a:ext cx="7786564" cy="6198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8F38791-7967-4F4D-8E0D-5FF62F98BE35}"/>
              </a:ext>
            </a:extLst>
          </p:cNvPr>
          <p:cNvSpPr txBox="1"/>
          <p:nvPr/>
        </p:nvSpPr>
        <p:spPr>
          <a:xfrm>
            <a:off x="8505430" y="4231568"/>
            <a:ext cx="349284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Project Goal:</a:t>
            </a:r>
          </a:p>
          <a:p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 techniques we have seen in  class to explain and solve a problem of your choice. </a:t>
            </a:r>
          </a:p>
        </p:txBody>
      </p:sp>
    </p:spTree>
    <p:extLst>
      <p:ext uri="{BB962C8B-B14F-4D97-AF65-F5344CB8AC3E}">
        <p14:creationId xmlns:p14="http://schemas.microsoft.com/office/powerpoint/2010/main" val="2861844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7C87-68B1-4F66-8966-F4446EF8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35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Components of the final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D76C3-1C48-477D-8CD7-1CCFB1498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210" y="1397000"/>
            <a:ext cx="10018713" cy="509905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Introduction</a:t>
            </a:r>
            <a:r>
              <a:rPr lang="en-US" sz="2000" dirty="0"/>
              <a:t> (10%): Background information on the problem. Should include a brief history (with some citations) as well as current uses/applications. (accessible to anybody). Include any assumptions you are making to simplify the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Mathematical model</a:t>
            </a:r>
            <a:r>
              <a:rPr lang="en-US" sz="2000" dirty="0"/>
              <a:t> (20%): Derivation and explanation of how to create an optimization model that represents the problem. Explain approximations, etc. (accessible to any CS 524 student).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Implementation</a:t>
            </a:r>
            <a:r>
              <a:rPr lang="en-US" sz="2000" dirty="0"/>
              <a:t> (20%): Code that solves the problem in </a:t>
            </a:r>
            <a:r>
              <a:rPr lang="en-US" sz="2000" dirty="0" err="1"/>
              <a:t>JuMP</a:t>
            </a:r>
            <a:r>
              <a:rPr lang="en-US" sz="2000" dirty="0"/>
              <a:t> and displays the solution. Should be well explained and commented.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Results and discussion</a:t>
            </a:r>
            <a:r>
              <a:rPr lang="en-US" sz="2000" dirty="0"/>
              <a:t> (20%): Discuss limitations, special cases, generalizations, variations on the theme that can be explored. This can include additional solutions.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Conclusion</a:t>
            </a:r>
            <a:r>
              <a:rPr lang="en-US" sz="2000" dirty="0"/>
              <a:t> (10%): Summarize your finings and your results and talk about at least one possible future direction for your project (something that might be interesting to pursue as a follow-up).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remaining 20% of the grade will be awarded at the instructor's discretion for originality, creativity, and final report quality. </a:t>
            </a:r>
          </a:p>
        </p:txBody>
      </p:sp>
    </p:spTree>
    <p:extLst>
      <p:ext uri="{BB962C8B-B14F-4D97-AF65-F5344CB8AC3E}">
        <p14:creationId xmlns:p14="http://schemas.microsoft.com/office/powerpoint/2010/main" val="80737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7C87-68B1-4F66-8966-F4446EF8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35000"/>
          </a:xfrm>
        </p:spPr>
        <p:txBody>
          <a:bodyPr>
            <a:normAutofit fontScale="90000"/>
          </a:bodyPr>
          <a:lstStyle/>
          <a:p>
            <a:r>
              <a:rPr lang="en-US" dirty="0"/>
              <a:t>Where to get ideas for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D76C3-1C48-477D-8CD7-1CCFB1498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210" y="1397000"/>
            <a:ext cx="10018713" cy="5099050"/>
          </a:xfrm>
        </p:spPr>
        <p:txBody>
          <a:bodyPr>
            <a:normAutofit/>
          </a:bodyPr>
          <a:lstStyle/>
          <a:p>
            <a:r>
              <a:rPr lang="en-US" sz="2000" dirty="0"/>
              <a:t>An example we saw in class (this would be a great starting point if you don’t have anything in mind already!) </a:t>
            </a:r>
          </a:p>
          <a:p>
            <a:r>
              <a:rPr lang="en-US" sz="2000" dirty="0"/>
              <a:t>Something you found online or in a book (e.g., one of the suggested texts) </a:t>
            </a:r>
          </a:p>
          <a:p>
            <a:r>
              <a:rPr lang="en-US" sz="2000" dirty="0"/>
              <a:t>Your own idea (e.g., a research question you are trying to answer) </a:t>
            </a:r>
          </a:p>
          <a:p>
            <a:r>
              <a:rPr lang="en-US" sz="2000" dirty="0"/>
              <a:t>If you aren’t sure if your idea will work for the project, ask!  </a:t>
            </a:r>
          </a:p>
          <a:p>
            <a:r>
              <a:rPr lang="en-US" sz="2000" dirty="0"/>
              <a:t>I will post 5-10 project reports from previous semesters that demonstrate exceptional project quality </a:t>
            </a:r>
          </a:p>
        </p:txBody>
      </p:sp>
    </p:spTree>
    <p:extLst>
      <p:ext uri="{BB962C8B-B14F-4D97-AF65-F5344CB8AC3E}">
        <p14:creationId xmlns:p14="http://schemas.microsoft.com/office/powerpoint/2010/main" val="93565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7C87-68B1-4F66-8966-F4446EF8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35000"/>
          </a:xfrm>
        </p:spPr>
        <p:txBody>
          <a:bodyPr>
            <a:normAutofit fontScale="90000"/>
          </a:bodyPr>
          <a:lstStyle/>
          <a:p>
            <a:r>
              <a:rPr lang="en-US" dirty="0"/>
              <a:t>Advice and cautions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D76C3-1C48-477D-8CD7-1CCFB1498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210" y="1397000"/>
            <a:ext cx="10018713" cy="5099050"/>
          </a:xfrm>
        </p:spPr>
        <p:txBody>
          <a:bodyPr>
            <a:normAutofit/>
          </a:bodyPr>
          <a:lstStyle/>
          <a:p>
            <a:r>
              <a:rPr lang="en-US" sz="2000" dirty="0"/>
              <a:t>This is a class about modeling, not data collection!  You won’t get any bonus points for solving a really big problem or using “real” data (and doing so is probably more work than necessary). </a:t>
            </a:r>
          </a:p>
          <a:p>
            <a:r>
              <a:rPr lang="en-US" sz="2000" dirty="0"/>
              <a:t>A typical approach to optimization research: solve a “toy problem” first, then work your way up to bigger/more realistic versions of your problem (don’t try to do it all at once). </a:t>
            </a:r>
          </a:p>
          <a:p>
            <a:r>
              <a:rPr lang="en-US" sz="2000" dirty="0"/>
              <a:t>Avoid dealing with algorithm design, tuning, or selection. Focus on the model. </a:t>
            </a:r>
          </a:p>
          <a:p>
            <a:r>
              <a:rPr lang="en-US" sz="2000" dirty="0"/>
              <a:t>Avoid large-scale problems with many local minima (there isn’t much modeling to do). In other words, no physics/materials simulations and no deep learning. </a:t>
            </a:r>
          </a:p>
        </p:txBody>
      </p:sp>
    </p:spTree>
    <p:extLst>
      <p:ext uri="{BB962C8B-B14F-4D97-AF65-F5344CB8AC3E}">
        <p14:creationId xmlns:p14="http://schemas.microsoft.com/office/powerpoint/2010/main" val="5096520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555</Words>
  <Application>Microsoft Office PowerPoint</Application>
  <PresentationFormat>Widescreen</PresentationFormat>
  <Paragraphs>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Corbel</vt:lpstr>
      <vt:lpstr>Parallax</vt:lpstr>
      <vt:lpstr>Project Overview</vt:lpstr>
      <vt:lpstr>Important Info</vt:lpstr>
      <vt:lpstr>Components of the final report</vt:lpstr>
      <vt:lpstr>Where to get ideas for topics</vt:lpstr>
      <vt:lpstr>Advice and cautions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creator>Amanda G Smith</dc:creator>
  <cp:lastModifiedBy>Amanda G Smith</cp:lastModifiedBy>
  <cp:revision>1</cp:revision>
  <dcterms:created xsi:type="dcterms:W3CDTF">2019-07-02T20:14:56Z</dcterms:created>
  <dcterms:modified xsi:type="dcterms:W3CDTF">2026-06-23T17:12:45Z</dcterms:modified>
</cp:coreProperties>
</file>